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99"/>
    <p:restoredTop sz="94886"/>
  </p:normalViewPr>
  <p:slideViewPr>
    <p:cSldViewPr snapToGrid="0">
      <p:cViewPr varScale="1">
        <p:scale>
          <a:sx n="142" d="100"/>
          <a:sy n="142" d="100"/>
        </p:scale>
        <p:origin x="11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C17C-BCCA-0E51-139C-F115DF634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6B7AE-C7A3-F0FB-20B1-5713E543E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1395D-051C-CC0A-3BD7-E0CCAD0E3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27946-2F11-0948-8283-D30A80A68EC9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28EF2-8803-5FD6-D3F8-709148A1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CB4D-3A9A-B66A-7063-E029654C6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CA78-63DC-D245-B087-BC181943E9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857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6B13-4DCE-583E-3C78-B737CC168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25F23-1715-6B4C-0476-9B0099E09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17745-A5C8-7EE3-E56E-FFBE2CAD0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27946-2F11-0948-8283-D30A80A68EC9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1B94C-7DFB-E086-C6FF-B019787E0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717E1-B886-295B-5065-66A304F00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CA78-63DC-D245-B087-BC181943E9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819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E4B6-BAF9-4E3F-688A-2BEB9CFE3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30F55-1EF0-B4B9-21E2-524D3A547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E9399-F27E-8CCE-CB34-451F1FB1B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27946-2F11-0948-8283-D30A80A68EC9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18DE2-C8A0-6D36-28FF-C30864E4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957CB-DFBF-1A3A-1C67-897A9EFF6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CA78-63DC-D245-B087-BC181943E9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90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0A490-AA2C-BC5C-8569-BCAAAE7D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4E220-3C7E-57CE-DDF1-CAFFBA3EB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AD6AA-D4B0-EAD2-F2C0-1EA8BE1D0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98256-E6E1-F863-B7C1-58C6ED5D0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27946-2F11-0948-8283-D30A80A68EC9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56357-6801-E4FB-A97B-633A1D75F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16879-9BD6-A550-9521-0CE01542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CA78-63DC-D245-B087-BC181943E9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334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940BE-7EA7-9491-4B62-C11ADF80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85957-E9F1-34BB-CCA1-4AECFC126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2913F-4D68-B361-22D4-70E9A8DF6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7FAC5A-C85C-047C-0AEE-3EF75EFF7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A188B1-A79D-300D-3FDE-27434E2F9E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A87C47-7CA4-129A-CEB6-D6EDC629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27946-2F11-0948-8283-D30A80A68EC9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D8BE-8869-C977-0BE5-F197C7732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E9E66B-FB4C-B4C6-86F5-C3B2DC25C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CA78-63DC-D245-B087-BC181943E9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253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A0321-E047-3475-770A-058EEC70A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FBD2E6-A485-E7B6-48D5-E523DCC1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27946-2F11-0948-8283-D30A80A68EC9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28B06-7E7F-DCB2-713D-BD52575CC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3B3C6-4439-5D67-77B5-4A7920C9E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CA78-63DC-D245-B087-BC181943E9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279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8C340-7484-C93C-CA5A-6CDBAB4CA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27946-2F11-0948-8283-D30A80A68EC9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EE90BC-7409-1368-3FED-FA7783C24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DF951-C292-3EC2-D9AB-4E04F3017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CA78-63DC-D245-B087-BC181943E9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516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E30C-F45C-7D19-F086-D887650B5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80671-E188-55CD-2443-6BF3600CB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CFEFC-5F0E-ED97-B831-5A7B1EC84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7135A-1273-528F-F5E3-EE689B011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27946-2F11-0948-8283-D30A80A68EC9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9ACFA-0C08-6873-51C6-14FA10619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B4A1C-368F-4442-CFE1-A43568CF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CA78-63DC-D245-B087-BC181943E9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316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36B5-FAD4-4095-FE46-2AF3E3F74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A02C31-D136-67F9-A487-8ADD532EB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D681B-C444-3645-69F9-F21A6B121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C0E6C-A2F9-12DC-AC0C-5A32F1E6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27946-2F11-0948-8283-D30A80A68EC9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AD5BB-B3C2-8AD8-03AE-15D13423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B4F05-9DF2-4C66-942E-ED00932A6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CA78-63DC-D245-B087-BC181943E9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42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48E12-BB4E-1D24-DF7A-6F014C401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4D443-1E9E-B043-0BBE-597E1CD19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08430-725E-2016-805D-490F4E548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27946-2F11-0948-8283-D30A80A68EC9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3335C-F320-7ECF-D44B-2C139F02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B89F1-1B03-7534-4A36-42398E77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CA78-63DC-D245-B087-BC181943E9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093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DBDEED-E73A-E60F-EE95-49685276F8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62B7E-BC55-8019-1EE2-3BD47C866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BCBE8-C252-193D-00C9-EC2D92E08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27946-2F11-0948-8283-D30A80A68EC9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BFDAA-95DF-2E1A-1FBB-9F044428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8442B-F568-F970-7068-CCF35768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CA78-63DC-D245-B087-BC181943E9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814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67E6CF-CB87-D281-ED48-649719155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2C475-45AA-8026-21AE-07D01602D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D709A-C499-7749-08E2-ACEB8D2F0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D27946-2F11-0948-8283-D30A80A68EC9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048C4-C918-A68D-BD7A-14FAE62D3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ECD09-EF6E-C8D3-E4FA-C39268485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8CA78-63DC-D245-B087-BC181943E9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6621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ound Diagonal Corner of Rectangle 81">
            <a:extLst>
              <a:ext uri="{FF2B5EF4-FFF2-40B4-BE49-F238E27FC236}">
                <a16:creationId xmlns:a16="http://schemas.microsoft.com/office/drawing/2014/main" id="{54BDC025-D103-B89D-DA6F-7597672FC023}"/>
              </a:ext>
            </a:extLst>
          </p:cNvPr>
          <p:cNvSpPr/>
          <p:nvPr/>
        </p:nvSpPr>
        <p:spPr>
          <a:xfrm>
            <a:off x="8803228" y="369722"/>
            <a:ext cx="3083972" cy="1394872"/>
          </a:xfrm>
          <a:prstGeom prst="round2Diag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1C6D687-6974-550D-D335-FAF5BFD76055}"/>
              </a:ext>
            </a:extLst>
          </p:cNvPr>
          <p:cNvGrpSpPr/>
          <p:nvPr/>
        </p:nvGrpSpPr>
        <p:grpSpPr>
          <a:xfrm>
            <a:off x="215153" y="348792"/>
            <a:ext cx="7546361" cy="1791093"/>
            <a:chOff x="215153" y="348792"/>
            <a:chExt cx="7546361" cy="1791093"/>
          </a:xfrm>
        </p:grpSpPr>
        <p:sp>
          <p:nvSpPr>
            <p:cNvPr id="32" name="Round Diagonal Corner of Rectangle 31">
              <a:extLst>
                <a:ext uri="{FF2B5EF4-FFF2-40B4-BE49-F238E27FC236}">
                  <a16:creationId xmlns:a16="http://schemas.microsoft.com/office/drawing/2014/main" id="{DFF77CE2-8053-911D-0276-3C4A921D4849}"/>
                </a:ext>
              </a:extLst>
            </p:cNvPr>
            <p:cNvSpPr/>
            <p:nvPr/>
          </p:nvSpPr>
          <p:spPr>
            <a:xfrm>
              <a:off x="215153" y="348792"/>
              <a:ext cx="7546361" cy="1791093"/>
            </a:xfrm>
            <a:prstGeom prst="round2Diag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7AFD346-20E6-7EBE-49EF-05BDEF108250}"/>
                </a:ext>
              </a:extLst>
            </p:cNvPr>
            <p:cNvGrpSpPr/>
            <p:nvPr/>
          </p:nvGrpSpPr>
          <p:grpSpPr>
            <a:xfrm>
              <a:off x="2903547" y="676606"/>
              <a:ext cx="1658471" cy="1219199"/>
              <a:chOff x="3290046" y="1138519"/>
              <a:chExt cx="1658471" cy="1219199"/>
            </a:xfrm>
          </p:grpSpPr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4A3EEA08-1C7B-BBAB-7865-8B2904B2B4F5}"/>
                  </a:ext>
                </a:extLst>
              </p:cNvPr>
              <p:cNvSpPr/>
              <p:nvPr/>
            </p:nvSpPr>
            <p:spPr>
              <a:xfrm>
                <a:off x="3290046" y="1138519"/>
                <a:ext cx="1658471" cy="1219199"/>
              </a:xfrm>
              <a:prstGeom prst="roundRect">
                <a:avLst>
                  <a:gd name="adj" fmla="val 7113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GB" sz="1400" dirty="0"/>
                  <a:t>Ingest Script</a:t>
                </a:r>
                <a:br>
                  <a:rPr lang="en-GB" sz="1400" dirty="0"/>
                </a:br>
                <a:r>
                  <a:rPr lang="en-GB" sz="1400" dirty="0"/>
                  <a:t>(ingestData.py)</a:t>
                </a:r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D3C601C6-F132-4071-3F5B-E6DB25C4B7AA}"/>
                  </a:ext>
                </a:extLst>
              </p:cNvPr>
              <p:cNvSpPr/>
              <p:nvPr/>
            </p:nvSpPr>
            <p:spPr>
              <a:xfrm>
                <a:off x="3426757" y="1748118"/>
                <a:ext cx="1385048" cy="537882"/>
              </a:xfrm>
              <a:prstGeom prst="roundRect">
                <a:avLst/>
              </a:prstGeom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/>
                  <a:t>Text Extraction &amp; Chunking</a:t>
                </a:r>
              </a:p>
            </p:txBody>
          </p:sp>
        </p:grp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4EBD33BC-EB85-E17A-CF9E-C4DE15CB682D}"/>
                </a:ext>
              </a:extLst>
            </p:cNvPr>
            <p:cNvSpPr/>
            <p:nvPr/>
          </p:nvSpPr>
          <p:spPr>
            <a:xfrm>
              <a:off x="5848453" y="851416"/>
              <a:ext cx="1658471" cy="779930"/>
            </a:xfrm>
            <a:prstGeom prst="roundRect">
              <a:avLst>
                <a:gd name="adj" fmla="val 711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/>
                <a:t>Ollama</a:t>
              </a:r>
              <a:br>
                <a:rPr lang="en-GB" sz="1400" dirty="0"/>
              </a:br>
              <a:r>
                <a:rPr lang="en-GB" sz="1400" dirty="0"/>
                <a:t>embedding model</a:t>
              </a:r>
              <a:br>
                <a:rPr lang="en-GB" sz="1400" dirty="0"/>
              </a:br>
              <a:r>
                <a:rPr lang="en-GB" sz="1400" dirty="0"/>
                <a:t>bge-m3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0936E44-77EC-F875-29AD-9539AAAF9AF1}"/>
                </a:ext>
              </a:extLst>
            </p:cNvPr>
            <p:cNvGrpSpPr/>
            <p:nvPr/>
          </p:nvGrpSpPr>
          <p:grpSpPr>
            <a:xfrm>
              <a:off x="4761483" y="1026414"/>
              <a:ext cx="887506" cy="519581"/>
              <a:chOff x="5221941" y="1443503"/>
              <a:chExt cx="887506" cy="519581"/>
            </a:xfrm>
          </p:grpSpPr>
          <p:sp>
            <p:nvSpPr>
              <p:cNvPr id="9" name="Right Arrow 8">
                <a:extLst>
                  <a:ext uri="{FF2B5EF4-FFF2-40B4-BE49-F238E27FC236}">
                    <a16:creationId xmlns:a16="http://schemas.microsoft.com/office/drawing/2014/main" id="{7ADB76E2-BDD1-3A63-E5C6-8C20240294CA}"/>
                  </a:ext>
                </a:extLst>
              </p:cNvPr>
              <p:cNvSpPr/>
              <p:nvPr/>
            </p:nvSpPr>
            <p:spPr>
              <a:xfrm>
                <a:off x="5221941" y="1443503"/>
                <a:ext cx="887506" cy="214968"/>
              </a:xfrm>
              <a:prstGeom prst="right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ight Arrow 10">
                <a:extLst>
                  <a:ext uri="{FF2B5EF4-FFF2-40B4-BE49-F238E27FC236}">
                    <a16:creationId xmlns:a16="http://schemas.microsoft.com/office/drawing/2014/main" id="{E46EECB8-85F7-613E-CED4-B1EF8B43B57B}"/>
                  </a:ext>
                </a:extLst>
              </p:cNvPr>
              <p:cNvSpPr/>
              <p:nvPr/>
            </p:nvSpPr>
            <p:spPr>
              <a:xfrm rot="10800000">
                <a:off x="5221941" y="1748117"/>
                <a:ext cx="887506" cy="214967"/>
              </a:xfrm>
              <a:prstGeom prst="rightArrow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409DBE2-FD9D-FB75-32F1-69EF26E4010D}"/>
                </a:ext>
              </a:extLst>
            </p:cNvPr>
            <p:cNvGrpSpPr/>
            <p:nvPr/>
          </p:nvGrpSpPr>
          <p:grpSpPr>
            <a:xfrm>
              <a:off x="462115" y="775488"/>
              <a:ext cx="1399718" cy="1326046"/>
              <a:chOff x="4249271" y="3922912"/>
              <a:chExt cx="1399718" cy="1326046"/>
            </a:xfrm>
          </p:grpSpPr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9932AB39-7864-A6FA-C7A1-714275EA0685}"/>
                  </a:ext>
                </a:extLst>
              </p:cNvPr>
              <p:cNvSpPr/>
              <p:nvPr/>
            </p:nvSpPr>
            <p:spPr>
              <a:xfrm>
                <a:off x="4249271" y="3922912"/>
                <a:ext cx="1399718" cy="774387"/>
              </a:xfrm>
              <a:prstGeom prst="roundRect">
                <a:avLst>
                  <a:gd name="adj" fmla="val 15509"/>
                </a:avLst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0DDD279-727E-10B8-408C-FF339A5AD69B}"/>
                  </a:ext>
                </a:extLst>
              </p:cNvPr>
              <p:cNvGrpSpPr/>
              <p:nvPr/>
            </p:nvGrpSpPr>
            <p:grpSpPr>
              <a:xfrm>
                <a:off x="4356002" y="4045391"/>
                <a:ext cx="1133182" cy="1203567"/>
                <a:chOff x="1437018" y="1203883"/>
                <a:chExt cx="1133182" cy="1203567"/>
              </a:xfrm>
            </p:grpSpPr>
            <p:pic>
              <p:nvPicPr>
                <p:cNvPr id="17" name="Picture 16" descr="Pdf - Free files and folders icons">
                  <a:extLst>
                    <a:ext uri="{FF2B5EF4-FFF2-40B4-BE49-F238E27FC236}">
                      <a16:creationId xmlns:a16="http://schemas.microsoft.com/office/drawing/2014/main" id="{B055A659-AE7E-B6B5-EDD6-A79988AFD3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506322" y="1203883"/>
                  <a:ext cx="497287" cy="497287"/>
                </a:xfrm>
                <a:prstGeom prst="rect">
                  <a:avLst/>
                </a:prstGeom>
              </p:spPr>
            </p:pic>
            <p:pic>
              <p:nvPicPr>
                <p:cNvPr id="18" name="Picture 17" descr="Pdf - Free files and folders icons">
                  <a:extLst>
                    <a:ext uri="{FF2B5EF4-FFF2-40B4-BE49-F238E27FC236}">
                      <a16:creationId xmlns:a16="http://schemas.microsoft.com/office/drawing/2014/main" id="{F6606924-0A96-3677-9A6C-CD5B996019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072912" y="1203883"/>
                  <a:ext cx="497287" cy="497287"/>
                </a:xfrm>
                <a:prstGeom prst="rect">
                  <a:avLst/>
                </a:prstGeom>
              </p:spPr>
            </p:pic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0A79CEC-205D-04EC-1E02-C401BA17D71F}"/>
                    </a:ext>
                  </a:extLst>
                </p:cNvPr>
                <p:cNvSpPr txBox="1"/>
                <p:nvPr/>
              </p:nvSpPr>
              <p:spPr>
                <a:xfrm>
                  <a:off x="1437018" y="1884230"/>
                  <a:ext cx="113318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dirty="0"/>
                    <a:t>Local VCF </a:t>
                  </a:r>
                  <a:br>
                    <a:rPr lang="en-GB" sz="1400" dirty="0"/>
                  </a:br>
                  <a:r>
                    <a:rPr lang="en-GB" sz="1400" dirty="0"/>
                    <a:t>documents</a:t>
                  </a:r>
                </a:p>
              </p:txBody>
            </p:sp>
          </p:grpSp>
        </p:grp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B3BF4949-14B9-60B0-743D-F63A83E45C3A}"/>
                </a:ext>
              </a:extLst>
            </p:cNvPr>
            <p:cNvSpPr/>
            <p:nvPr/>
          </p:nvSpPr>
          <p:spPr>
            <a:xfrm>
              <a:off x="1930188" y="1178721"/>
              <a:ext cx="887506" cy="214968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5AA7609-BB4B-A3C0-B9B4-A1CB16E0EAF4}"/>
              </a:ext>
            </a:extLst>
          </p:cNvPr>
          <p:cNvGrpSpPr/>
          <p:nvPr/>
        </p:nvGrpSpPr>
        <p:grpSpPr>
          <a:xfrm>
            <a:off x="4876425" y="2592416"/>
            <a:ext cx="2250239" cy="951183"/>
            <a:chOff x="6234953" y="2865838"/>
            <a:chExt cx="2250239" cy="951183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77CD36C7-D8A1-8CE7-02D3-7864002F25C0}"/>
                </a:ext>
              </a:extLst>
            </p:cNvPr>
            <p:cNvSpPr/>
            <p:nvPr/>
          </p:nvSpPr>
          <p:spPr>
            <a:xfrm>
              <a:off x="6234953" y="2865838"/>
              <a:ext cx="2250239" cy="951183"/>
            </a:xfrm>
            <a:prstGeom prst="roundRect">
              <a:avLst>
                <a:gd name="adj" fmla="val 7113"/>
              </a:avLst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1400" dirty="0"/>
                <a:t>ChromaDB</a:t>
              </a:r>
              <a:br>
                <a:rPr lang="en-GB" sz="1400" dirty="0"/>
              </a:br>
              <a:r>
                <a:rPr lang="en-GB" sz="1400" dirty="0"/>
                <a:t>(Local Vector Store)</a:t>
              </a:r>
            </a:p>
          </p:txBody>
        </p:sp>
        <p:pic>
          <p:nvPicPr>
            <p:cNvPr id="26" name="Graphic 25" descr="Database with solid fill">
              <a:extLst>
                <a:ext uri="{FF2B5EF4-FFF2-40B4-BE49-F238E27FC236}">
                  <a16:creationId xmlns:a16="http://schemas.microsoft.com/office/drawing/2014/main" id="{A533C4DA-3234-C669-1257-4D8E054571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34953" y="3038183"/>
              <a:ext cx="606492" cy="606492"/>
            </a:xfrm>
            <a:prstGeom prst="rect">
              <a:avLst/>
            </a:prstGeom>
          </p:spPr>
        </p:pic>
      </p:grpSp>
      <p:sp>
        <p:nvSpPr>
          <p:cNvPr id="29" name="Bent Arrow 28">
            <a:extLst>
              <a:ext uri="{FF2B5EF4-FFF2-40B4-BE49-F238E27FC236}">
                <a16:creationId xmlns:a16="http://schemas.microsoft.com/office/drawing/2014/main" id="{2CC54F75-2BA5-EE12-D282-C224F9A1660E}"/>
              </a:ext>
            </a:extLst>
          </p:cNvPr>
          <p:cNvSpPr/>
          <p:nvPr/>
        </p:nvSpPr>
        <p:spPr>
          <a:xfrm flipV="1">
            <a:off x="3638864" y="2020523"/>
            <a:ext cx="1094430" cy="1143787"/>
          </a:xfrm>
          <a:prstGeom prst="bentArrow">
            <a:avLst>
              <a:gd name="adj1" fmla="val 13349"/>
              <a:gd name="adj2" fmla="val 11251"/>
              <a:gd name="adj3" fmla="val 13036"/>
              <a:gd name="adj4" fmla="val 3448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ound Diagonal Corner of Rectangle 39">
            <a:extLst>
              <a:ext uri="{FF2B5EF4-FFF2-40B4-BE49-F238E27FC236}">
                <a16:creationId xmlns:a16="http://schemas.microsoft.com/office/drawing/2014/main" id="{69CE2363-E29A-46B2-7DA2-130000A925CE}"/>
              </a:ext>
            </a:extLst>
          </p:cNvPr>
          <p:cNvSpPr/>
          <p:nvPr/>
        </p:nvSpPr>
        <p:spPr>
          <a:xfrm>
            <a:off x="4250662" y="3995603"/>
            <a:ext cx="7448838" cy="2185791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F08B07D-5469-5353-7797-4C9DF3C4A02A}"/>
              </a:ext>
            </a:extLst>
          </p:cNvPr>
          <p:cNvSpPr/>
          <p:nvPr/>
        </p:nvSpPr>
        <p:spPr>
          <a:xfrm>
            <a:off x="5007240" y="4778658"/>
            <a:ext cx="1988607" cy="977981"/>
          </a:xfrm>
          <a:prstGeom prst="roundRect">
            <a:avLst>
              <a:gd name="adj" fmla="val 7113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Streamlit UI</a:t>
            </a:r>
            <a:br>
              <a:rPr lang="en-GB" sz="1400" dirty="0"/>
            </a:br>
            <a:r>
              <a:rPr lang="en-GB" sz="1400" dirty="0"/>
              <a:t>(ui-app.py)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49F7BBD-EE87-BB16-91DC-193D37AAA515}"/>
              </a:ext>
            </a:extLst>
          </p:cNvPr>
          <p:cNvSpPr/>
          <p:nvPr/>
        </p:nvSpPr>
        <p:spPr>
          <a:xfrm>
            <a:off x="8390174" y="2563873"/>
            <a:ext cx="1725685" cy="810975"/>
          </a:xfrm>
          <a:prstGeom prst="roundRect">
            <a:avLst>
              <a:gd name="adj" fmla="val 7113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FastMCP</a:t>
            </a:r>
            <a:br>
              <a:rPr lang="en-GB" sz="1400" dirty="0"/>
            </a:br>
            <a:r>
              <a:rPr lang="en-GB" sz="1400" dirty="0"/>
              <a:t>(server.py)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20304E2-D89B-7CBE-B25D-7B7ABA63F778}"/>
              </a:ext>
            </a:extLst>
          </p:cNvPr>
          <p:cNvGrpSpPr/>
          <p:nvPr/>
        </p:nvGrpSpPr>
        <p:grpSpPr>
          <a:xfrm>
            <a:off x="1570428" y="4438651"/>
            <a:ext cx="1666677" cy="1643862"/>
            <a:chOff x="1570428" y="4438651"/>
            <a:chExt cx="1666677" cy="1643862"/>
          </a:xfrm>
        </p:grpSpPr>
        <p:sp>
          <p:nvSpPr>
            <p:cNvPr id="72" name="Round Diagonal Corner of Rectangle 71">
              <a:extLst>
                <a:ext uri="{FF2B5EF4-FFF2-40B4-BE49-F238E27FC236}">
                  <a16:creationId xmlns:a16="http://schemas.microsoft.com/office/drawing/2014/main" id="{4B2A41A9-1DF4-56D0-E679-5197AE980E07}"/>
                </a:ext>
              </a:extLst>
            </p:cNvPr>
            <p:cNvSpPr/>
            <p:nvPr/>
          </p:nvSpPr>
          <p:spPr>
            <a:xfrm>
              <a:off x="1570428" y="4438651"/>
              <a:ext cx="1666677" cy="1643862"/>
            </a:xfrm>
            <a:prstGeom prst="round2Diag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1915E13-A767-501F-B933-B6C2E27DD5F6}"/>
                </a:ext>
              </a:extLst>
            </p:cNvPr>
            <p:cNvGrpSpPr/>
            <p:nvPr/>
          </p:nvGrpSpPr>
          <p:grpSpPr>
            <a:xfrm>
              <a:off x="1785412" y="4633228"/>
              <a:ext cx="1246489" cy="1227240"/>
              <a:chOff x="361593" y="4163229"/>
              <a:chExt cx="1246489" cy="122724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F85225BB-E105-5C34-C87F-E064CEAC5ACF}"/>
                  </a:ext>
                </a:extLst>
              </p:cNvPr>
              <p:cNvGrpSpPr/>
              <p:nvPr/>
            </p:nvGrpSpPr>
            <p:grpSpPr>
              <a:xfrm>
                <a:off x="411796" y="4163229"/>
                <a:ext cx="1010723" cy="949563"/>
                <a:chOff x="650411" y="4100476"/>
                <a:chExt cx="1010723" cy="949563"/>
              </a:xfrm>
            </p:grpSpPr>
            <p:pic>
              <p:nvPicPr>
                <p:cNvPr id="34" name="Graphic 33" descr="User with solid fill">
                  <a:extLst>
                    <a:ext uri="{FF2B5EF4-FFF2-40B4-BE49-F238E27FC236}">
                      <a16:creationId xmlns:a16="http://schemas.microsoft.com/office/drawing/2014/main" id="{E273D18E-EC60-8A67-84AD-31CBDA6752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0411" y="4331986"/>
                  <a:ext cx="718053" cy="718053"/>
                </a:xfrm>
                <a:prstGeom prst="rect">
                  <a:avLst/>
                </a:prstGeom>
              </p:spPr>
            </p:pic>
            <p:pic>
              <p:nvPicPr>
                <p:cNvPr id="36" name="Graphic 35" descr="Laptop with solid fill">
                  <a:extLst>
                    <a:ext uri="{FF2B5EF4-FFF2-40B4-BE49-F238E27FC236}">
                      <a16:creationId xmlns:a16="http://schemas.microsoft.com/office/drawing/2014/main" id="{95BC7709-9AAC-4C1D-652E-C5F7F67FC0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43081" y="4100476"/>
                  <a:ext cx="718053" cy="718053"/>
                </a:xfrm>
                <a:prstGeom prst="rect">
                  <a:avLst/>
                </a:prstGeom>
              </p:spPr>
            </p:pic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42311D9-CF2A-9DF0-6DEA-661CEC6015C8}"/>
                  </a:ext>
                </a:extLst>
              </p:cNvPr>
              <p:cNvSpPr txBox="1"/>
              <p:nvPr/>
            </p:nvSpPr>
            <p:spPr>
              <a:xfrm>
                <a:off x="361593" y="5082692"/>
                <a:ext cx="12464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User Prompt</a:t>
                </a:r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D339976-DA57-B98E-28F5-6BAF5D654836}"/>
              </a:ext>
            </a:extLst>
          </p:cNvPr>
          <p:cNvGrpSpPr/>
          <p:nvPr/>
        </p:nvGrpSpPr>
        <p:grpSpPr>
          <a:xfrm>
            <a:off x="3263003" y="4603712"/>
            <a:ext cx="1658470" cy="508265"/>
            <a:chOff x="1691770" y="4209851"/>
            <a:chExt cx="1658470" cy="508265"/>
          </a:xfrm>
        </p:grpSpPr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CC705BFB-F10F-FA6A-DF34-0AE99E3FA164}"/>
                </a:ext>
              </a:extLst>
            </p:cNvPr>
            <p:cNvSpPr/>
            <p:nvPr/>
          </p:nvSpPr>
          <p:spPr>
            <a:xfrm>
              <a:off x="1691770" y="4453931"/>
              <a:ext cx="1658470" cy="264185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0321698-9D3F-4E37-3175-6211ED62BD73}"/>
                </a:ext>
              </a:extLst>
            </p:cNvPr>
            <p:cNvSpPr txBox="1"/>
            <p:nvPr/>
          </p:nvSpPr>
          <p:spPr>
            <a:xfrm>
              <a:off x="1691771" y="4209851"/>
              <a:ext cx="10944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Question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5B8F2EA-4CA6-EC62-316D-166EDDA9630B}"/>
              </a:ext>
            </a:extLst>
          </p:cNvPr>
          <p:cNvGrpSpPr/>
          <p:nvPr/>
        </p:nvGrpSpPr>
        <p:grpSpPr>
          <a:xfrm>
            <a:off x="3263004" y="5424152"/>
            <a:ext cx="1641157" cy="509188"/>
            <a:chOff x="1787103" y="4940472"/>
            <a:chExt cx="1641157" cy="509188"/>
          </a:xfrm>
        </p:grpSpPr>
        <p:sp>
          <p:nvSpPr>
            <p:cNvPr id="50" name="Right Arrow 49">
              <a:extLst>
                <a:ext uri="{FF2B5EF4-FFF2-40B4-BE49-F238E27FC236}">
                  <a16:creationId xmlns:a16="http://schemas.microsoft.com/office/drawing/2014/main" id="{E4D1F86E-F74C-AA18-F4BA-DD40EBDA4059}"/>
                </a:ext>
              </a:extLst>
            </p:cNvPr>
            <p:cNvSpPr/>
            <p:nvPr/>
          </p:nvSpPr>
          <p:spPr>
            <a:xfrm rot="10800000">
              <a:off x="1787103" y="4940472"/>
              <a:ext cx="1641157" cy="264183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856E630-C9E4-DEA4-FE14-FD1E0200BFD7}"/>
                </a:ext>
              </a:extLst>
            </p:cNvPr>
            <p:cNvSpPr txBox="1"/>
            <p:nvPr/>
          </p:nvSpPr>
          <p:spPr>
            <a:xfrm>
              <a:off x="1787103" y="5141883"/>
              <a:ext cx="11623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Answer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ED25C493-D6FF-C6AD-11EF-BC6DA427A068}"/>
              </a:ext>
            </a:extLst>
          </p:cNvPr>
          <p:cNvSpPr txBox="1"/>
          <p:nvPr/>
        </p:nvSpPr>
        <p:spPr>
          <a:xfrm>
            <a:off x="2495668" y="2594236"/>
            <a:ext cx="1348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Metadata</a:t>
            </a:r>
            <a:br>
              <a:rPr lang="en-GB" sz="1400" dirty="0"/>
            </a:br>
            <a:r>
              <a:rPr lang="en-GB" sz="1400" dirty="0"/>
              <a:t>(chunks)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F5DE650-C5CC-566F-19DD-0706C8A20EB2}"/>
              </a:ext>
            </a:extLst>
          </p:cNvPr>
          <p:cNvGrpSpPr/>
          <p:nvPr/>
        </p:nvGrpSpPr>
        <p:grpSpPr>
          <a:xfrm>
            <a:off x="4469199" y="3635902"/>
            <a:ext cx="1379255" cy="1064094"/>
            <a:chOff x="4308535" y="3624943"/>
            <a:chExt cx="1379255" cy="1064094"/>
          </a:xfrm>
        </p:grpSpPr>
        <p:sp>
          <p:nvSpPr>
            <p:cNvPr id="53" name="Right Arrow 52">
              <a:extLst>
                <a:ext uri="{FF2B5EF4-FFF2-40B4-BE49-F238E27FC236}">
                  <a16:creationId xmlns:a16="http://schemas.microsoft.com/office/drawing/2014/main" id="{D85C6AEA-D436-2204-288F-3F4AFDF57DD7}"/>
                </a:ext>
              </a:extLst>
            </p:cNvPr>
            <p:cNvSpPr/>
            <p:nvPr/>
          </p:nvSpPr>
          <p:spPr>
            <a:xfrm rot="16200000">
              <a:off x="5023651" y="4024897"/>
              <a:ext cx="1064094" cy="264185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E21C445-8CB4-2F68-8FD8-FB13C50355D4}"/>
                </a:ext>
              </a:extLst>
            </p:cNvPr>
            <p:cNvSpPr txBox="1"/>
            <p:nvPr/>
          </p:nvSpPr>
          <p:spPr>
            <a:xfrm>
              <a:off x="4308535" y="3995603"/>
              <a:ext cx="13484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Local Vector</a:t>
              </a:r>
              <a:br>
                <a:rPr lang="en-GB" sz="1400" dirty="0"/>
              </a:br>
              <a:r>
                <a:rPr lang="en-GB" sz="1400" dirty="0"/>
                <a:t>Search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921D98E-898A-DA26-5F99-746F0B26B8AD}"/>
              </a:ext>
            </a:extLst>
          </p:cNvPr>
          <p:cNvGrpSpPr/>
          <p:nvPr/>
        </p:nvGrpSpPr>
        <p:grpSpPr>
          <a:xfrm>
            <a:off x="6208893" y="3659798"/>
            <a:ext cx="1126397" cy="1074050"/>
            <a:chOff x="5869450" y="3649909"/>
            <a:chExt cx="1126397" cy="1074050"/>
          </a:xfrm>
        </p:grpSpPr>
        <p:sp>
          <p:nvSpPr>
            <p:cNvPr id="54" name="Right Arrow 53">
              <a:extLst>
                <a:ext uri="{FF2B5EF4-FFF2-40B4-BE49-F238E27FC236}">
                  <a16:creationId xmlns:a16="http://schemas.microsoft.com/office/drawing/2014/main" id="{6978615E-326F-6DE6-65C1-FD989995A450}"/>
                </a:ext>
              </a:extLst>
            </p:cNvPr>
            <p:cNvSpPr/>
            <p:nvPr/>
          </p:nvSpPr>
          <p:spPr>
            <a:xfrm rot="5400000">
              <a:off x="5464517" y="4054842"/>
              <a:ext cx="1074050" cy="264183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C3A446B-C910-DCCC-5348-26036544F3E3}"/>
                </a:ext>
              </a:extLst>
            </p:cNvPr>
            <p:cNvSpPr txBox="1"/>
            <p:nvPr/>
          </p:nvSpPr>
          <p:spPr>
            <a:xfrm>
              <a:off x="6026766" y="3981399"/>
              <a:ext cx="9690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Context</a:t>
              </a:r>
              <a:br>
                <a:rPr lang="en-GB" sz="1400" dirty="0"/>
              </a:br>
              <a:r>
                <a:rPr lang="en-GB" sz="1400" dirty="0"/>
                <a:t>Snippets</a:t>
              </a:r>
            </a:p>
          </p:txBody>
        </p:sp>
      </p:grp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6B65DD1-3488-7B5A-26F7-3B8D2FA93958}"/>
              </a:ext>
            </a:extLst>
          </p:cNvPr>
          <p:cNvSpPr/>
          <p:nvPr/>
        </p:nvSpPr>
        <p:spPr>
          <a:xfrm>
            <a:off x="8779823" y="4244685"/>
            <a:ext cx="2650177" cy="1600802"/>
          </a:xfrm>
          <a:prstGeom prst="roundRect">
            <a:avLst>
              <a:gd name="adj" fmla="val 7113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dirty="0"/>
              <a:t>Ollama</a:t>
            </a:r>
            <a:br>
              <a:rPr lang="en-GB" sz="1400" dirty="0"/>
            </a:br>
            <a:r>
              <a:rPr lang="en-GB" sz="1400" dirty="0"/>
              <a:t>(LLM Qwen 2.5 / 3.5)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12EFC58D-D541-A842-84F3-AC5CABCDE9FC}"/>
              </a:ext>
            </a:extLst>
          </p:cNvPr>
          <p:cNvSpPr/>
          <p:nvPr/>
        </p:nvSpPr>
        <p:spPr>
          <a:xfrm>
            <a:off x="9089804" y="4907509"/>
            <a:ext cx="2074374" cy="718054"/>
          </a:xfrm>
          <a:prstGeom prst="roundRect">
            <a:avLst>
              <a:gd name="adj" fmla="val 7113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Reasoning &amp;</a:t>
            </a:r>
            <a:br>
              <a:rPr lang="en-GB" sz="1400" dirty="0"/>
            </a:br>
            <a:r>
              <a:rPr lang="en-GB" sz="1400" dirty="0"/>
              <a:t>Inference Engine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15D6CC8-FA62-C6A9-327A-5F8D378E2E2B}"/>
              </a:ext>
            </a:extLst>
          </p:cNvPr>
          <p:cNvGrpSpPr/>
          <p:nvPr/>
        </p:nvGrpSpPr>
        <p:grpSpPr>
          <a:xfrm>
            <a:off x="7067256" y="5424152"/>
            <a:ext cx="1641157" cy="724631"/>
            <a:chOff x="1787103" y="4940472"/>
            <a:chExt cx="1641157" cy="724631"/>
          </a:xfrm>
        </p:grpSpPr>
        <p:sp>
          <p:nvSpPr>
            <p:cNvPr id="63" name="Right Arrow 62">
              <a:extLst>
                <a:ext uri="{FF2B5EF4-FFF2-40B4-BE49-F238E27FC236}">
                  <a16:creationId xmlns:a16="http://schemas.microsoft.com/office/drawing/2014/main" id="{48AA27C0-D49B-9FE1-97E5-7151AAB411F5}"/>
                </a:ext>
              </a:extLst>
            </p:cNvPr>
            <p:cNvSpPr/>
            <p:nvPr/>
          </p:nvSpPr>
          <p:spPr>
            <a:xfrm rot="10800000">
              <a:off x="1787103" y="4940472"/>
              <a:ext cx="1641157" cy="264183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DFD8951-B407-320C-F80D-1CFA38DE8C74}"/>
                </a:ext>
              </a:extLst>
            </p:cNvPr>
            <p:cNvSpPr txBox="1"/>
            <p:nvPr/>
          </p:nvSpPr>
          <p:spPr>
            <a:xfrm>
              <a:off x="1787103" y="5141883"/>
              <a:ext cx="16411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Streaming Response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BF4C60A-F4FB-C30C-7035-F6BD27FE43C0}"/>
              </a:ext>
            </a:extLst>
          </p:cNvPr>
          <p:cNvGrpSpPr/>
          <p:nvPr/>
        </p:nvGrpSpPr>
        <p:grpSpPr>
          <a:xfrm>
            <a:off x="7085648" y="4603712"/>
            <a:ext cx="1658470" cy="508265"/>
            <a:chOff x="1691770" y="4209851"/>
            <a:chExt cx="1658470" cy="508265"/>
          </a:xfrm>
        </p:grpSpPr>
        <p:sp>
          <p:nvSpPr>
            <p:cNvPr id="66" name="Right Arrow 65">
              <a:extLst>
                <a:ext uri="{FF2B5EF4-FFF2-40B4-BE49-F238E27FC236}">
                  <a16:creationId xmlns:a16="http://schemas.microsoft.com/office/drawing/2014/main" id="{1AF96CAD-53B3-C388-D68B-BB7B7FB9C545}"/>
                </a:ext>
              </a:extLst>
            </p:cNvPr>
            <p:cNvSpPr/>
            <p:nvPr/>
          </p:nvSpPr>
          <p:spPr>
            <a:xfrm>
              <a:off x="1691770" y="4453931"/>
              <a:ext cx="1658470" cy="264185"/>
            </a:xfrm>
            <a:prstGeom prst="right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062DE6D-ADF2-36C5-4512-F6888912DACC}"/>
                </a:ext>
              </a:extLst>
            </p:cNvPr>
            <p:cNvSpPr txBox="1"/>
            <p:nvPr/>
          </p:nvSpPr>
          <p:spPr>
            <a:xfrm>
              <a:off x="1691770" y="4209851"/>
              <a:ext cx="16411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Prompt + Context</a:t>
              </a:r>
            </a:p>
          </p:txBody>
        </p:sp>
      </p:grpSp>
      <p:sp>
        <p:nvSpPr>
          <p:cNvPr id="68" name="Right Arrow 67">
            <a:extLst>
              <a:ext uri="{FF2B5EF4-FFF2-40B4-BE49-F238E27FC236}">
                <a16:creationId xmlns:a16="http://schemas.microsoft.com/office/drawing/2014/main" id="{280B9163-3BC5-4384-3D5B-0EAB24B33B02}"/>
              </a:ext>
            </a:extLst>
          </p:cNvPr>
          <p:cNvSpPr/>
          <p:nvPr/>
        </p:nvSpPr>
        <p:spPr>
          <a:xfrm rot="10800000">
            <a:off x="7206454" y="2844820"/>
            <a:ext cx="1108634" cy="328047"/>
          </a:xfrm>
          <a:prstGeom prst="rightArrow">
            <a:avLst/>
          </a:prstGeom>
          <a:ln>
            <a:prstDash val="dash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F1AD8DE-9015-16F4-7856-7E0C1D7E8DC3}"/>
              </a:ext>
            </a:extLst>
          </p:cNvPr>
          <p:cNvSpPr txBox="1"/>
          <p:nvPr/>
        </p:nvSpPr>
        <p:spPr>
          <a:xfrm>
            <a:off x="10190945" y="2646194"/>
            <a:ext cx="1847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Expose tool</a:t>
            </a:r>
            <a:br>
              <a:rPr lang="en-GB" sz="1200" dirty="0"/>
            </a:br>
            <a:r>
              <a:rPr lang="en-GB" sz="1200" dirty="0"/>
              <a:t>vcf_documentation</a:t>
            </a:r>
            <a:br>
              <a:rPr lang="en-GB" sz="1200" dirty="0"/>
            </a:br>
            <a:r>
              <a:rPr lang="en-GB" sz="1200" dirty="0"/>
              <a:t>to local reasoning apps</a:t>
            </a:r>
          </a:p>
        </p:txBody>
      </p:sp>
      <p:sp>
        <p:nvSpPr>
          <p:cNvPr id="71" name="Round Diagonal Corner of Rectangle 70">
            <a:extLst>
              <a:ext uri="{FF2B5EF4-FFF2-40B4-BE49-F238E27FC236}">
                <a16:creationId xmlns:a16="http://schemas.microsoft.com/office/drawing/2014/main" id="{4A57CEB9-DA20-1619-6027-1DBE9AEF7813}"/>
              </a:ext>
            </a:extLst>
          </p:cNvPr>
          <p:cNvSpPr/>
          <p:nvPr/>
        </p:nvSpPr>
        <p:spPr>
          <a:xfrm>
            <a:off x="8220075" y="6181394"/>
            <a:ext cx="3124200" cy="312175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Live User Interaction &amp; RAG workflow</a:t>
            </a:r>
          </a:p>
        </p:txBody>
      </p:sp>
      <p:sp>
        <p:nvSpPr>
          <p:cNvPr id="77" name="Right Arrow 76">
            <a:extLst>
              <a:ext uri="{FF2B5EF4-FFF2-40B4-BE49-F238E27FC236}">
                <a16:creationId xmlns:a16="http://schemas.microsoft.com/office/drawing/2014/main" id="{778D1F6C-72A9-7F8B-F747-BEC66EC46FF3}"/>
              </a:ext>
            </a:extLst>
          </p:cNvPr>
          <p:cNvSpPr/>
          <p:nvPr/>
        </p:nvSpPr>
        <p:spPr>
          <a:xfrm rot="5400000">
            <a:off x="8988284" y="3654471"/>
            <a:ext cx="783282" cy="328047"/>
          </a:xfrm>
          <a:prstGeom prst="rightArrow">
            <a:avLst/>
          </a:prstGeom>
          <a:ln>
            <a:prstDash val="dash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C90074D-6B0B-5515-6722-80E85419C6A9}"/>
              </a:ext>
            </a:extLst>
          </p:cNvPr>
          <p:cNvGrpSpPr/>
          <p:nvPr/>
        </p:nvGrpSpPr>
        <p:grpSpPr>
          <a:xfrm>
            <a:off x="8536798" y="369722"/>
            <a:ext cx="3193087" cy="1342867"/>
            <a:chOff x="8536798" y="369722"/>
            <a:chExt cx="3193087" cy="1342867"/>
          </a:xfrm>
        </p:grpSpPr>
        <p:pic>
          <p:nvPicPr>
            <p:cNvPr id="78" name="Picture 77" descr="Chatbot icon in black. Online support. Vector">
              <a:extLst>
                <a:ext uri="{FF2B5EF4-FFF2-40B4-BE49-F238E27FC236}">
                  <a16:creationId xmlns:a16="http://schemas.microsoft.com/office/drawing/2014/main" id="{2B7A7C2A-8212-4BED-F435-4A517F6C0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/>
          </p:blipFill>
          <p:spPr>
            <a:xfrm>
              <a:off x="8536798" y="369722"/>
              <a:ext cx="2014301" cy="1342867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E98E46D-8367-D6C4-75DD-20F56A500688}"/>
                </a:ext>
              </a:extLst>
            </p:cNvPr>
            <p:cNvSpPr txBox="1"/>
            <p:nvPr/>
          </p:nvSpPr>
          <p:spPr>
            <a:xfrm>
              <a:off x="9882775" y="645315"/>
              <a:ext cx="184711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3</a:t>
              </a:r>
              <a:r>
                <a:rPr lang="en-GB" sz="1400" baseline="30000" dirty="0"/>
                <a:t>rd</a:t>
              </a:r>
              <a:r>
                <a:rPr lang="en-GB" sz="1400" dirty="0"/>
                <a:t> Party Chat Agents</a:t>
              </a:r>
              <a:br>
                <a:rPr lang="en-GB" sz="1400" dirty="0"/>
              </a:br>
              <a:r>
                <a:rPr lang="en-GB" sz="1400" dirty="0"/>
                <a:t>(Claude Desktop, Cherry Studio, etc…)</a:t>
              </a:r>
            </a:p>
          </p:txBody>
        </p:sp>
      </p:grpSp>
      <p:sp>
        <p:nvSpPr>
          <p:cNvPr id="81" name="Right Arrow 80">
            <a:extLst>
              <a:ext uri="{FF2B5EF4-FFF2-40B4-BE49-F238E27FC236}">
                <a16:creationId xmlns:a16="http://schemas.microsoft.com/office/drawing/2014/main" id="{0AABD3BE-F0DB-677E-AAA2-F9B5CE9B6652}"/>
              </a:ext>
            </a:extLst>
          </p:cNvPr>
          <p:cNvSpPr/>
          <p:nvPr/>
        </p:nvSpPr>
        <p:spPr>
          <a:xfrm rot="5400000">
            <a:off x="9052284" y="1863856"/>
            <a:ext cx="983328" cy="328047"/>
          </a:xfrm>
          <a:prstGeom prst="rightArrow">
            <a:avLst/>
          </a:prstGeom>
          <a:ln>
            <a:prstDash val="dash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2561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E8B4-E0AA-095A-2DD2-FB82D96C6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RAG vs Public Cloud Agents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B326CC-BA95-CAC2-73B7-534EC8575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65104"/>
              </p:ext>
            </p:extLst>
          </p:nvPr>
        </p:nvGraphicFramePr>
        <p:xfrm>
          <a:off x="914400" y="1466850"/>
          <a:ext cx="10515600" cy="494298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19656">
                  <a:extLst>
                    <a:ext uri="{9D8B030D-6E8A-4147-A177-3AD203B41FA5}">
                      <a16:colId xmlns:a16="http://schemas.microsoft.com/office/drawing/2014/main" val="1745072685"/>
                    </a:ext>
                  </a:extLst>
                </a:gridCol>
                <a:gridCol w="4228718">
                  <a:extLst>
                    <a:ext uri="{9D8B030D-6E8A-4147-A177-3AD203B41FA5}">
                      <a16:colId xmlns:a16="http://schemas.microsoft.com/office/drawing/2014/main" val="338740173"/>
                    </a:ext>
                  </a:extLst>
                </a:gridCol>
                <a:gridCol w="4467226">
                  <a:extLst>
                    <a:ext uri="{9D8B030D-6E8A-4147-A177-3AD203B41FA5}">
                      <a16:colId xmlns:a16="http://schemas.microsoft.com/office/drawing/2014/main" val="3360659889"/>
                    </a:ext>
                  </a:extLst>
                </a:gridCol>
              </a:tblGrid>
              <a:tr h="563118">
                <a:tc>
                  <a:txBody>
                    <a:bodyPr/>
                    <a:lstStyle/>
                    <a:p>
                      <a:r>
                        <a:rPr lang="en-GB" sz="120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Local Stack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(i.e. Qwen + Chroma)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Public Cloud Agents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(Claude, ChatGPT, etc…)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070176"/>
                  </a:ext>
                </a:extLst>
              </a:tr>
              <a:tr h="764025">
                <a:tc>
                  <a:txBody>
                    <a:bodyPr/>
                    <a:lstStyle/>
                    <a:p>
                      <a:r>
                        <a:rPr lang="en-GB" sz="1200" b="1" dirty="0"/>
                        <a:t>Data 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Data Sovereignty</a:t>
                      </a:r>
                      <a:br>
                        <a:rPr lang="en-GB" sz="1200" b="1" dirty="0"/>
                      </a:br>
                      <a:br>
                        <a:rPr lang="en-GB" sz="1200" dirty="0"/>
                      </a:br>
                      <a:r>
                        <a:rPr lang="en-GB" sz="1200" dirty="0"/>
                        <a:t>Zero data leak risk. Internal network data, IPs, and topologies stay strictly local.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Third-Party Exposure Risk</a:t>
                      </a:r>
                    </a:p>
                    <a:p>
                      <a:br>
                        <a:rPr lang="en-GB" sz="1200" dirty="0"/>
                      </a:br>
                      <a:r>
                        <a:rPr lang="en-GB" sz="1200" dirty="0"/>
                        <a:t>Confidential corporate data and system diagnostics are transmitted to external cloud servers.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605847"/>
                  </a:ext>
                </a:extLst>
              </a:tr>
              <a:tr h="911317">
                <a:tc>
                  <a:txBody>
                    <a:bodyPr/>
                    <a:lstStyle/>
                    <a:p>
                      <a:r>
                        <a:rPr lang="en-GB" sz="1200" b="1" dirty="0"/>
                        <a:t>Cost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/>
                        <a:t>Predictable Capital Asset (CapEx)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GB" sz="1200" b="1" dirty="0"/>
                      </a:br>
                      <a:r>
                        <a:rPr lang="en-GB" sz="1200" b="0" dirty="0"/>
                        <a:t>Leveraging existing CapEx (hardware) or allocate fixed budget for new one.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Variable OpEx</a:t>
                      </a:r>
                    </a:p>
                    <a:p>
                      <a:br>
                        <a:rPr lang="en-GB" sz="1200" b="1" dirty="0"/>
                      </a:br>
                      <a:r>
                        <a:rPr lang="en-GB" sz="1200" dirty="0"/>
                        <a:t>Pay-per-token pricing model. Costs scale aggressively with massive RAG document context prompts.</a:t>
                      </a:r>
                      <a:endParaRPr lang="en-GB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88050"/>
                  </a:ext>
                </a:extLst>
              </a:tr>
              <a:tr h="911317">
                <a:tc>
                  <a:txBody>
                    <a:bodyPr/>
                    <a:lstStyle/>
                    <a:p>
                      <a:r>
                        <a:rPr lang="en-GB" sz="1200" b="1" dirty="0"/>
                        <a:t>Complex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Targeted Technical Retrieval:</a:t>
                      </a:r>
                      <a:endParaRPr lang="en-GB" sz="1200" dirty="0"/>
                    </a:p>
                    <a:p>
                      <a:br>
                        <a:rPr lang="en-GB" sz="1200" dirty="0"/>
                      </a:br>
                      <a:r>
                        <a:rPr lang="en-GB" sz="1200" dirty="0"/>
                        <a:t>Optimised for focused domain Q&amp;A and technical lookup via highly efficient local architectures.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Frontier Generalist Reasoning:</a:t>
                      </a:r>
                      <a:endParaRPr lang="en-GB" sz="1200" dirty="0"/>
                    </a:p>
                    <a:p>
                      <a:endParaRPr lang="en-GB" sz="1200" dirty="0"/>
                    </a:p>
                    <a:p>
                      <a:r>
                        <a:rPr lang="en-GB" sz="1200" dirty="0"/>
                        <a:t>Elite capability for abstract multi-step planning, advanced programming and deep research.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186755"/>
                  </a:ext>
                </a:extLst>
              </a:tr>
              <a:tr h="764025">
                <a:tc>
                  <a:txBody>
                    <a:bodyPr/>
                    <a:lstStyle/>
                    <a:p>
                      <a:r>
                        <a:rPr lang="en-GB" sz="1200" b="1" dirty="0"/>
                        <a:t>Internet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Can be Air-Gapped</a:t>
                      </a:r>
                    </a:p>
                    <a:p>
                      <a:br>
                        <a:rPr lang="en-GB" sz="1200" dirty="0"/>
                      </a:br>
                      <a:r>
                        <a:rPr lang="en-GB" sz="1200" dirty="0"/>
                        <a:t>Can remain operational during network isolation, infrastructure failures, or WAN outages.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Mandatory</a:t>
                      </a:r>
                    </a:p>
                    <a:p>
                      <a:br>
                        <a:rPr lang="en-GB" sz="1200" dirty="0"/>
                      </a:br>
                      <a:r>
                        <a:rPr lang="en-GB" sz="1200" dirty="0"/>
                        <a:t>Total operational reliance on active external internet uplinks and cloud vendor API uptime.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872096"/>
                  </a:ext>
                </a:extLst>
              </a:tr>
              <a:tr h="911317">
                <a:tc>
                  <a:txBody>
                    <a:bodyPr/>
                    <a:lstStyle/>
                    <a:p>
                      <a:r>
                        <a:rPr lang="en-GB" sz="1200" b="1" dirty="0"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On-Prem Hardware Performance Bound</a:t>
                      </a:r>
                    </a:p>
                    <a:p>
                      <a:br>
                        <a:rPr lang="en-GB" sz="1200" dirty="0"/>
                      </a:br>
                      <a:r>
                        <a:rPr lang="en-GB" sz="1200" dirty="0"/>
                        <a:t>Execution speeds are dictated by the local GPU &amp; CPU pre-allocated computing power.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Highly Scalable</a:t>
                      </a:r>
                    </a:p>
                    <a:p>
                      <a:br>
                        <a:rPr lang="en-GB" sz="1200" dirty="0"/>
                      </a:br>
                      <a:r>
                        <a:rPr lang="en-GB" sz="1200" dirty="0"/>
                        <a:t>Distributed data centre processing throughput but bound by internet latency and API rate-limiting thresholds.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616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197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2813</TotalTime>
  <Words>334</Words>
  <Application>Microsoft Macintosh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Local RAG vs Public Cloud Agents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Giuliano Bertello</dc:creator>
  <cp:lastModifiedBy>Giuliano Bertello</cp:lastModifiedBy>
  <cp:revision>31</cp:revision>
  <dcterms:created xsi:type="dcterms:W3CDTF">2026-06-08T09:25:26Z</dcterms:created>
  <dcterms:modified xsi:type="dcterms:W3CDTF">2026-06-10T08:21:41Z</dcterms:modified>
</cp:coreProperties>
</file>